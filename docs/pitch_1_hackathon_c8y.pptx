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9" d="100"/>
          <a:sy n="119" d="100"/>
        </p:scale>
        <p:origin x="504" y="18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6850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1150871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477F66A-F49F-D743-8664-E2ED0B764465}" type="datetimeFigureOut">
              <a:rPr/>
              <a:t>22.09.26</a:t>
            </a:fld>
            <a:endParaRPr/>
          </a:p>
        </p:txBody>
      </p:sp>
      <p:sp>
        <p:nvSpPr>
          <p:cNvPr id="205908586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6060679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153067335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7323999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62CF5CB-1CA5-D84A-8DF2-301B5F70E888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D9FFD4-6F9E-C0DA-BE06-4EED9DF7AE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997420-8584-DEA8-EB4B-3F07A7A699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0619B6-78ED-02F6-A3EE-361099A4D9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921BAD-6F05-5694-AD7E-642DFFFA6B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561D3-5AC8-2939-EB35-DB8DBFE990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761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883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967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ED60C6-EE36-B108-5308-C0B4861EEB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793362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 fill="norm" stroke="1" extrusionOk="0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711058" name="Title 1"/>
          <p:cNvSpPr>
            <a:spLocks noGrp="1"/>
          </p:cNvSpPr>
          <p:nvPr>
            <p:ph type="ctrTitle"/>
          </p:nvPr>
        </p:nvSpPr>
        <p:spPr bwMode="auto">
          <a:xfrm>
            <a:off x="1078523" y="1098388"/>
            <a:ext cx="10318417" cy="4394988"/>
          </a:xfrm>
        </p:spPr>
        <p:txBody>
          <a:bodyPr anchor="ctr">
            <a:noAutofit/>
          </a:bodyPr>
          <a:lstStyle>
            <a:lvl1pPr algn="ctr">
              <a:defRPr sz="10000" spc="8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55328768" name="Subtitle 2"/>
          <p:cNvSpPr>
            <a:spLocks noGrp="1"/>
          </p:cNvSpPr>
          <p:nvPr>
            <p:ph type="subTitle" idx="1"/>
          </p:nvPr>
        </p:nvSpPr>
        <p:spPr bwMode="auto"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05139637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1078523" y="6375679"/>
            <a:ext cx="2329722" cy="348462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5884D8CB-B520-D948-B757-6F981FCD90DF}" type="datetime1">
              <a:rPr lang="de-DE"/>
              <a:t>22.09.26</a:t>
            </a:fld>
            <a:endParaRPr lang="en-US"/>
          </a:p>
        </p:txBody>
      </p:sp>
      <p:sp>
        <p:nvSpPr>
          <p:cNvPr id="89574772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180332" y="6375679"/>
            <a:ext cx="4114800" cy="345796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9264773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067218" y="6375679"/>
            <a:ext cx="2329723" cy="345796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71766878-3199-4EAB-94E7-2D6D11070E14}" type="slidenum">
              <a:rPr lang="en-US"/>
              <a:t>‹#›</a:t>
            </a:fld>
            <a:endParaRPr lang="en-US"/>
          </a:p>
        </p:txBody>
      </p:sp>
      <p:sp>
        <p:nvSpPr>
          <p:cNvPr id="1938365181" name="Rectangle 12" title="left edge border"/>
          <p:cNvSpPr/>
          <p:nvPr/>
        </p:nvSpPr>
        <p:spPr bwMode="auto"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2230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5441794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645108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2D87858-4EC9-024E-B3CA-A1D042E8C315}" type="datetime1">
              <a:rPr lang="de-DE"/>
              <a:t>22.09.26</a:t>
            </a:fld>
            <a:endParaRPr lang="en-US"/>
          </a:p>
        </p:txBody>
      </p:sp>
      <p:sp>
        <p:nvSpPr>
          <p:cNvPr id="9898571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5619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505117" name="Title 1"/>
          <p:cNvSpPr>
            <a:spLocks noGrp="1"/>
          </p:cNvSpPr>
          <p:nvPr>
            <p:ph type="title"/>
          </p:nvPr>
        </p:nvSpPr>
        <p:spPr bwMode="auto"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974014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910294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3236546" y="6375679"/>
            <a:ext cx="1493947" cy="34846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D5F58CF-5919-8A4E-81F6-89B451D3C04E}" type="datetime1">
              <a:rPr lang="de-DE"/>
              <a:t>22.09.26</a:t>
            </a:fld>
            <a:endParaRPr lang="en-US"/>
          </a:p>
        </p:txBody>
      </p:sp>
      <p:sp>
        <p:nvSpPr>
          <p:cNvPr id="86620717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5279064" y="6375679"/>
            <a:ext cx="4114800" cy="34579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201095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942434" y="6375679"/>
            <a:ext cx="1487566" cy="34579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1766878-3199-4EAB-94E7-2D6D11070E14}" type="slidenum">
              <a:rPr lang="en-US"/>
              <a:t>‹#›</a:t>
            </a:fld>
            <a:endParaRPr lang="en-US"/>
          </a:p>
        </p:txBody>
      </p:sp>
      <p:grpSp>
        <p:nvGrpSpPr>
          <p:cNvPr id="302623380" name="Group 6" title="left scallop shape"/>
          <p:cNvGrpSpPr/>
          <p:nvPr/>
        </p:nvGrpSpPr>
        <p:grpSpPr bwMode="auto"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 fill="norm" stroke="1" extrusionOk="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 fill="norm" stroke="1" extrusionOk="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325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00755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257300" y="2286000"/>
            <a:ext cx="4800600" cy="3619500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4968792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647796" y="2286000"/>
            <a:ext cx="4800600" cy="3619500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7820602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F49234C-0C83-A042-8AA6-1A8B4F9BE740}" type="datetime1">
              <a:rPr lang="de-DE"/>
              <a:t>22.09.26</a:t>
            </a:fld>
            <a:endParaRPr lang="en-US"/>
          </a:p>
        </p:txBody>
      </p:sp>
      <p:sp>
        <p:nvSpPr>
          <p:cNvPr id="8423181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35692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859144" name="Title 1"/>
          <p:cNvSpPr>
            <a:spLocks noGrp="1"/>
          </p:cNvSpPr>
          <p:nvPr>
            <p:ph type="title"/>
          </p:nvPr>
        </p:nvSpPr>
        <p:spPr bwMode="auto">
          <a:xfrm>
            <a:off x="1252728" y="381000"/>
            <a:ext cx="10172700" cy="1493517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967484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1761165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257300" y="2909102"/>
            <a:ext cx="4800600" cy="299639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85693259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48156419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633864" y="2909102"/>
            <a:ext cx="4800600" cy="299639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2473791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D8D0E8-F84D-3E4D-B928-65F60EF443BF}" type="datetime1">
              <a:rPr lang="de-DE"/>
              <a:t>22.09.26</a:t>
            </a:fld>
            <a:endParaRPr lang="en-US"/>
          </a:p>
        </p:txBody>
      </p:sp>
      <p:sp>
        <p:nvSpPr>
          <p:cNvPr id="81554509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59355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9486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9471137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524B61E-1918-F84B-BC3E-A4D39D94CD46}" type="datetime1">
              <a:rPr lang="de-DE"/>
              <a:t>22.09.26</a:t>
            </a:fld>
            <a:endParaRPr lang="en-US"/>
          </a:p>
        </p:txBody>
      </p:sp>
      <p:sp>
        <p:nvSpPr>
          <p:cNvPr id="166025924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342360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15705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2CDC79-C5F9-F543-AEC7-A05D26C716C2}" type="datetime1">
              <a:rPr lang="de-DE"/>
              <a:t>22.09.26</a:t>
            </a:fld>
            <a:endParaRPr lang="en-US"/>
          </a:p>
        </p:txBody>
      </p:sp>
      <p:sp>
        <p:nvSpPr>
          <p:cNvPr id="64941004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815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1828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 fill="norm" stroke="1" extrusionOk="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010743159" name="Title 1"/>
          <p:cNvSpPr>
            <a:spLocks noGrp="1"/>
          </p:cNvSpPr>
          <p:nvPr>
            <p:ph type="title"/>
          </p:nvPr>
        </p:nvSpPr>
        <p:spPr bwMode="auto"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32691195" name="Content Placeholder 2"/>
          <p:cNvSpPr>
            <a:spLocks noGrp="1"/>
          </p:cNvSpPr>
          <p:nvPr>
            <p:ph idx="1"/>
          </p:nvPr>
        </p:nvSpPr>
        <p:spPr bwMode="auto"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21219949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310338056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65051" y="6375679"/>
            <a:ext cx="1233355" cy="348462"/>
          </a:xfrm>
        </p:spPr>
        <p:txBody>
          <a:bodyPr/>
          <a:lstStyle/>
          <a:p>
            <a:pPr>
              <a:defRPr/>
            </a:pPr>
            <a:fld id="{B35E5717-B0A1-5D40-B7C8-A83AD7C05372}" type="datetime1">
              <a:rPr lang="de-DE"/>
              <a:t>22.09.26</a:t>
            </a:fld>
            <a:endParaRPr lang="en-US"/>
          </a:p>
        </p:txBody>
      </p:sp>
      <p:sp>
        <p:nvSpPr>
          <p:cNvPr id="47397560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103620" y="6375679"/>
            <a:ext cx="3482179" cy="345796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054722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691014" y="6375679"/>
            <a:ext cx="1232456" cy="345796"/>
          </a:xfrm>
        </p:spPr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‹#›</a:t>
            </a:fld>
            <a:endParaRPr lang="en-US"/>
          </a:p>
        </p:txBody>
      </p:sp>
      <p:sp>
        <p:nvSpPr>
          <p:cNvPr id="973813895" name="Rectangle 7" title="left edge border"/>
          <p:cNvSpPr/>
          <p:nvPr/>
        </p:nvSpPr>
        <p:spPr bwMode="auto"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18167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501975954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 fill="norm" stroke="1" extrusionOk="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34531254" name="Rectangle 11" title="left edge border"/>
          <p:cNvSpPr/>
          <p:nvPr/>
        </p:nvSpPr>
        <p:spPr bwMode="auto"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2810438" name="Title 1"/>
          <p:cNvSpPr>
            <a:spLocks noGrp="1"/>
          </p:cNvSpPr>
          <p:nvPr>
            <p:ph type="title"/>
          </p:nvPr>
        </p:nvSpPr>
        <p:spPr bwMode="auto"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300846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86391111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65950" y="6375679"/>
            <a:ext cx="1232456" cy="348462"/>
          </a:xfrm>
        </p:spPr>
        <p:txBody>
          <a:bodyPr/>
          <a:lstStyle/>
          <a:p>
            <a:pPr>
              <a:defRPr/>
            </a:pPr>
            <a:fld id="{3967BA09-AFE6-4743-BDE1-22B893DA102E}" type="datetime1">
              <a:rPr lang="de-DE"/>
              <a:t>22.09.26</a:t>
            </a:fld>
            <a:endParaRPr lang="en-US"/>
          </a:p>
        </p:txBody>
      </p:sp>
      <p:sp>
        <p:nvSpPr>
          <p:cNvPr id="406506285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103621" y="6375679"/>
            <a:ext cx="3482178" cy="345796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3090202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687568" y="6375679"/>
            <a:ext cx="1234440" cy="345796"/>
          </a:xfrm>
        </p:spPr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226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2070416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9262348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2E6A91-49A7-734B-8B7C-74BE1D57FB05}" type="datetime1">
              <a:rPr lang="de-DE"/>
              <a:t>22.09.26</a:t>
            </a:fld>
            <a:endParaRPr lang="en-US"/>
          </a:p>
        </p:txBody>
      </p:sp>
      <p:sp>
        <p:nvSpPr>
          <p:cNvPr id="15597324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66496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22590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10066320" y="382386"/>
            <a:ext cx="1492132" cy="5600404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1279116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257300" y="382385"/>
            <a:ext cx="8392585" cy="5600405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7840300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41A74C-C850-9F42-BD42-717D16517593}" type="datetime1">
              <a:rPr lang="de-DE"/>
              <a:t>22.09.26</a:t>
            </a:fld>
            <a:endParaRPr lang="en-US"/>
          </a:p>
        </p:txBody>
      </p:sp>
      <p:sp>
        <p:nvSpPr>
          <p:cNvPr id="8204679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23257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400545" name="Title Placeholder 1"/>
          <p:cNvSpPr>
            <a:spLocks noGrp="1"/>
          </p:cNvSpPr>
          <p:nvPr>
            <p:ph type="title"/>
          </p:nvPr>
        </p:nvSpPr>
        <p:spPr bwMode="auto">
          <a:xfrm>
            <a:off x="1251678" y="382385"/>
            <a:ext cx="10178321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152805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51678" y="2286001"/>
            <a:ext cx="10178321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36240700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7A0D9532-EC51-3E4A-9906-CD7CEA365E5B}" type="datetime1">
              <a:rPr lang="de-DE"/>
              <a:t>22.09.26</a:t>
            </a:fld>
            <a:endParaRPr lang="en-US"/>
          </a:p>
        </p:txBody>
      </p:sp>
      <p:sp>
        <p:nvSpPr>
          <p:cNvPr id="88361843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650640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71766878-3199-4EAB-94E7-2D6D11070E14}" type="slidenum">
              <a:rPr lang="en-US"/>
              <a:t>‹#›</a:t>
            </a:fld>
            <a:endParaRPr lang="en-US"/>
          </a:p>
        </p:txBody>
      </p:sp>
      <p:sp>
        <p:nvSpPr>
          <p:cNvPr id="2001688372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 fill="norm" stroke="1" extrusionOk="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141346" name="Rectangle 11" title="right edge border"/>
          <p:cNvSpPr/>
          <p:nvPr/>
        </p:nvSpPr>
        <p:spPr bwMode="auto"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5100" cap="all" spc="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110000"/>
        </a:lnSpc>
        <a:spcBef>
          <a:spcPts val="700"/>
        </a:spcBef>
        <a:buClr>
          <a:schemeClr val="tx2"/>
        </a:buClr>
        <a:buFont typeface="Arial"/>
        <a:buChar char="•"/>
        <a:defRPr sz="20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110000"/>
        </a:lnSpc>
        <a:spcBef>
          <a:spcPts val="700"/>
        </a:spcBef>
        <a:buClr>
          <a:schemeClr val="tx2"/>
        </a:buClr>
        <a:buFont typeface="Gill Sans MT"/>
        <a:buChar char="–"/>
        <a:defRPr sz="18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110000"/>
        </a:lnSpc>
        <a:spcBef>
          <a:spcPts val="700"/>
        </a:spcBef>
        <a:buClr>
          <a:schemeClr val="tx2"/>
        </a:buClr>
        <a:buFont typeface="Arial"/>
        <a:buChar char="•"/>
        <a:defRPr sz="16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110000"/>
        </a:lnSpc>
        <a:spcBef>
          <a:spcPts val="700"/>
        </a:spcBef>
        <a:buClr>
          <a:schemeClr val="tx2"/>
        </a:buClr>
        <a:buFont typeface="Gill Sans MT"/>
        <a:buChar char="–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110000"/>
        </a:lnSpc>
        <a:spcBef>
          <a:spcPts val="700"/>
        </a:spcBef>
        <a:buClr>
          <a:schemeClr val="tx2"/>
        </a:buClr>
        <a:buFont typeface="Arial"/>
        <a:buChar char="•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110000"/>
        </a:lnSpc>
        <a:spcBef>
          <a:spcPts val="700"/>
        </a:spcBef>
        <a:buClr>
          <a:schemeClr val="tx2"/>
        </a:buClr>
        <a:buFont typeface="Gill Sans MT"/>
        <a:buChar char="–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110000"/>
        </a:lnSpc>
        <a:spcBef>
          <a:spcPts val="700"/>
        </a:spcBef>
        <a:buClr>
          <a:schemeClr val="tx2"/>
        </a:buClr>
        <a:buFont typeface="Arial"/>
        <a:buChar char="•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110000"/>
        </a:lnSpc>
        <a:spcBef>
          <a:spcPts val="700"/>
        </a:spcBef>
        <a:buClr>
          <a:schemeClr val="tx2"/>
        </a:buClr>
        <a:buFont typeface="Gill Sans MT"/>
        <a:buChar char="–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110000"/>
        </a:lnSpc>
        <a:spcBef>
          <a:spcPts val="700"/>
        </a:spcBef>
        <a:buClr>
          <a:schemeClr val="tx2"/>
        </a:buClr>
        <a:buFont typeface="Arial"/>
        <a:buChar char="•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437662" name="Title 1"/>
          <p:cNvSpPr>
            <a:spLocks noGrp="1"/>
          </p:cNvSpPr>
          <p:nvPr>
            <p:ph type="ctrTitle"/>
          </p:nvPr>
        </p:nvSpPr>
        <p:spPr bwMode="auto">
          <a:xfrm>
            <a:off x="4679073" y="127252"/>
            <a:ext cx="2833854" cy="484094"/>
          </a:xfrm>
        </p:spPr>
        <p:txBody>
          <a:bodyPr/>
          <a:lstStyle/>
          <a:p>
            <a:pPr>
              <a:defRPr/>
            </a:pPr>
            <a:r>
              <a:rPr lang="en-GB" sz="4000">
                <a:latin typeface="+mn-lt"/>
              </a:rPr>
              <a:t>P</a:t>
            </a:r>
            <a:r>
              <a:rPr sz="4000">
                <a:latin typeface="+mn-lt"/>
              </a:rPr>
              <a:t>itch</a:t>
            </a:r>
            <a:endParaRPr/>
          </a:p>
        </p:txBody>
      </p:sp>
      <p:sp>
        <p:nvSpPr>
          <p:cNvPr id="1227770055" name="Subtitle 2"/>
          <p:cNvSpPr>
            <a:spLocks noGrp="1"/>
          </p:cNvSpPr>
          <p:nvPr>
            <p:ph type="subTitle" idx="1"/>
          </p:nvPr>
        </p:nvSpPr>
        <p:spPr bwMode="auto">
          <a:xfrm>
            <a:off x="2176136" y="5919894"/>
            <a:ext cx="8045373" cy="653028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US" sz="3600" b="0">
                <a:solidFill>
                  <a:srgbClr val="2A1A00"/>
                </a:solidFill>
                <a:cs typeface="Gill Sans MT"/>
              </a:rPr>
              <a:t>PLAIN Text-to-</a:t>
            </a:r>
            <a:r>
              <a:rPr lang="de-DE" sz="3600" b="0">
                <a:solidFill>
                  <a:srgbClr val="2A1A00"/>
                </a:solidFill>
                <a:cs typeface="Gill Sans MT"/>
              </a:rPr>
              <a:t>Prototype</a:t>
            </a:r>
            <a:endParaRPr sz="2800" b="0"/>
          </a:p>
        </p:txBody>
      </p:sp>
      <p:sp>
        <p:nvSpPr>
          <p:cNvPr id="156213112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1</a:t>
            </a:fld>
            <a:endParaRPr lang="en-US"/>
          </a:p>
        </p:txBody>
      </p:sp>
      <p:pic>
        <p:nvPicPr>
          <p:cNvPr id="1815546264" name="Picture 5"/>
          <p:cNvPicPr>
            <a:picLocks noChangeAspect="1"/>
          </p:cNvPicPr>
          <p:nvPr/>
        </p:nvPicPr>
        <p:blipFill rotWithShape="1">
          <a:blip r:embed="rId3"/>
          <a:srcRect l="11555" t="22959" r="11668" b="23470"/>
          <a:stretch/>
        </p:blipFill>
        <p:spPr bwMode="auto">
          <a:xfrm>
            <a:off x="4163619" y="1344460"/>
            <a:ext cx="4090031" cy="3109205"/>
          </a:xfrm>
          <a:prstGeom prst="rect">
            <a:avLst/>
          </a:prstGeom>
        </p:spPr>
      </p:pic>
      <p:sp>
        <p:nvSpPr>
          <p:cNvPr id="1879977606" name="TextBox 6"/>
          <p:cNvSpPr txBox="1"/>
          <p:nvPr/>
        </p:nvSpPr>
        <p:spPr bwMode="auto">
          <a:xfrm flipH="0" flipV="0">
            <a:off x="540973" y="4292300"/>
            <a:ext cx="5331495" cy="1006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000"/>
              <a:t>Matthias L</a:t>
            </a:r>
            <a:r>
              <a:rPr lang="en-GB" sz="2000"/>
              <a:t>ü</a:t>
            </a:r>
            <a:r>
              <a:rPr sz="2000"/>
              <a:t>ft</a:t>
            </a:r>
            <a:endParaRPr/>
          </a:p>
          <a:p>
            <a:pPr>
              <a:defRPr/>
            </a:pPr>
            <a:r>
              <a:rPr sz="2000"/>
              <a:t>Andrea Semrau </a:t>
            </a:r>
            <a:endParaRPr/>
          </a:p>
          <a:p>
            <a:pPr>
              <a:defRPr/>
            </a:pPr>
            <a:r>
              <a:rPr sz="2000"/>
              <a:t>Mohammed Sameeyuddeen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158993" name="Title 1"/>
          <p:cNvSpPr>
            <a:spLocks noGrp="1"/>
          </p:cNvSpPr>
          <p:nvPr>
            <p:ph type="title"/>
          </p:nvPr>
        </p:nvSpPr>
        <p:spPr bwMode="auto">
          <a:xfrm>
            <a:off x="1251678" y="382385"/>
            <a:ext cx="10178321" cy="1492132"/>
          </a:xfrm>
        </p:spPr>
        <p:txBody>
          <a:bodyPr/>
          <a:lstStyle/>
          <a:p>
            <a:pPr>
              <a:defRPr/>
            </a:pPr>
            <a:r>
              <a:rPr lang="en-US">
                <a:latin typeface="+mn-lt"/>
              </a:rPr>
              <a:t>Problem</a:t>
            </a:r>
            <a:endParaRPr/>
          </a:p>
        </p:txBody>
      </p:sp>
      <p:sp>
        <p:nvSpPr>
          <p:cNvPr id="1388087989" name="tb"/>
          <p:cNvSpPr txBox="1"/>
          <p:nvPr/>
        </p:nvSpPr>
        <p:spPr bwMode="auto">
          <a:xfrm>
            <a:off x="1251678" y="1567117"/>
            <a:ext cx="10058400" cy="3851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2000" b="1">
                <a:solidFill>
                  <a:srgbClr val="2A1A00"/>
                </a:solidFill>
                <a:latin typeface="Gill Sans MT"/>
                <a:cs typeface="Gill Sans MT"/>
              </a:rPr>
              <a:t>Cumulocity is powerful - but every piece of custom logic still needs a developer.</a:t>
            </a:r>
            <a:endParaRPr/>
          </a:p>
        </p:txBody>
      </p:sp>
      <p:sp>
        <p:nvSpPr>
          <p:cNvPr id="2057567109" name="rr"/>
          <p:cNvSpPr/>
          <p:nvPr/>
        </p:nvSpPr>
        <p:spPr bwMode="auto">
          <a:xfrm>
            <a:off x="1188720" y="2487168"/>
            <a:ext cx="3218688" cy="2542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2E2DC"/>
            </a:solidFill>
          </a:ln>
        </p:spPr>
        <p:txBody>
          <a:bodyPr wrap="square" lIns="146304" tIns="146304" rIns="146304" bIns="146304" anchor="t">
            <a:noAutofit/>
          </a:bodyPr>
          <a:lstStyle/>
          <a:p>
            <a:pPr>
              <a:defRPr/>
            </a:pPr>
            <a:endParaRPr sz="2000"/>
          </a:p>
        </p:txBody>
      </p:sp>
      <p:sp>
        <p:nvSpPr>
          <p:cNvPr id="1149489695" name="c"/>
          <p:cNvSpPr/>
          <p:nvPr/>
        </p:nvSpPr>
        <p:spPr bwMode="auto">
          <a:xfrm>
            <a:off x="1463040" y="2779776"/>
            <a:ext cx="310896" cy="310896"/>
          </a:xfrm>
          <a:prstGeom prst="ellipse">
            <a:avLst/>
          </a:prstGeom>
          <a:solidFill>
            <a:srgbClr val="F8B323"/>
          </a:solidFill>
        </p:spPr>
        <p:txBody>
          <a:bodyPr wrap="square" lIns="0" tIns="0" rIns="0" bIns="0" anchor="ctr"/>
          <a:lstStyle/>
          <a:p>
            <a:pPr>
              <a:defRPr/>
            </a:pPr>
            <a:endParaRPr sz="2000"/>
          </a:p>
        </p:txBody>
      </p:sp>
      <p:sp>
        <p:nvSpPr>
          <p:cNvPr id="2057148434" name="tb"/>
          <p:cNvSpPr txBox="1"/>
          <p:nvPr/>
        </p:nvSpPr>
        <p:spPr bwMode="auto">
          <a:xfrm>
            <a:off x="1463040" y="3273552"/>
            <a:ext cx="2916936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b="1">
                <a:solidFill>
                  <a:srgbClr val="2A1A00"/>
                </a:solidFill>
                <a:latin typeface="Gill Sans MT"/>
                <a:cs typeface="Gill Sans MT"/>
              </a:rPr>
              <a:t>Custom logic = a dev project</a:t>
            </a:r>
            <a:endParaRPr/>
          </a:p>
        </p:txBody>
      </p:sp>
      <p:sp>
        <p:nvSpPr>
          <p:cNvPr id="628664885" name="tb"/>
          <p:cNvSpPr txBox="1"/>
          <p:nvPr/>
        </p:nvSpPr>
        <p:spPr bwMode="auto">
          <a:xfrm>
            <a:off x="1463040" y="3913632"/>
            <a:ext cx="2670048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1200">
                <a:solidFill>
                  <a:srgbClr val="5A5A50"/>
                </a:solidFill>
                <a:latin typeface="Gill Sans MT"/>
                <a:cs typeface="Gill Sans MT"/>
              </a:rPr>
              <a:t>Every KPI, rule or data transform means writing, testing and deploying a microservice. Days, not minutes.</a:t>
            </a:r>
            <a:endParaRPr/>
          </a:p>
        </p:txBody>
      </p:sp>
      <p:sp>
        <p:nvSpPr>
          <p:cNvPr id="1247387226" name="rr"/>
          <p:cNvSpPr/>
          <p:nvPr/>
        </p:nvSpPr>
        <p:spPr bwMode="auto">
          <a:xfrm>
            <a:off x="4654296" y="2487168"/>
            <a:ext cx="3218688" cy="2542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2E2DC"/>
            </a:solidFill>
          </a:ln>
        </p:spPr>
        <p:txBody>
          <a:bodyPr wrap="square" lIns="146304" tIns="146304" rIns="146304" bIns="146304" anchor="t">
            <a:noAutofit/>
          </a:bodyPr>
          <a:lstStyle/>
          <a:p>
            <a:pPr>
              <a:defRPr/>
            </a:pPr>
            <a:endParaRPr sz="2000"/>
          </a:p>
        </p:txBody>
      </p:sp>
      <p:sp>
        <p:nvSpPr>
          <p:cNvPr id="199494366" name="c"/>
          <p:cNvSpPr/>
          <p:nvPr/>
        </p:nvSpPr>
        <p:spPr bwMode="auto">
          <a:xfrm>
            <a:off x="4928616" y="2779776"/>
            <a:ext cx="310896" cy="310896"/>
          </a:xfrm>
          <a:prstGeom prst="ellipse">
            <a:avLst/>
          </a:prstGeom>
          <a:solidFill>
            <a:srgbClr val="F8B323"/>
          </a:solidFill>
        </p:spPr>
        <p:txBody>
          <a:bodyPr wrap="square" lIns="0" tIns="0" rIns="0" bIns="0" anchor="ctr"/>
          <a:lstStyle/>
          <a:p>
            <a:pPr>
              <a:defRPr/>
            </a:pPr>
            <a:endParaRPr sz="2000"/>
          </a:p>
        </p:txBody>
      </p:sp>
      <p:sp>
        <p:nvSpPr>
          <p:cNvPr id="1941350179" name="tb"/>
          <p:cNvSpPr txBox="1"/>
          <p:nvPr/>
        </p:nvSpPr>
        <p:spPr bwMode="auto">
          <a:xfrm>
            <a:off x="4928616" y="3273552"/>
            <a:ext cx="267004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b="1">
                <a:solidFill>
                  <a:srgbClr val="2A1A00"/>
                </a:solidFill>
                <a:latin typeface="Gill Sans MT"/>
                <a:cs typeface="Gill Sans MT"/>
              </a:rPr>
              <a:t>Those who know can’t build</a:t>
            </a:r>
            <a:endParaRPr/>
          </a:p>
        </p:txBody>
      </p:sp>
      <p:sp>
        <p:nvSpPr>
          <p:cNvPr id="756772236" name="tb"/>
          <p:cNvSpPr txBox="1"/>
          <p:nvPr/>
        </p:nvSpPr>
        <p:spPr bwMode="auto">
          <a:xfrm>
            <a:off x="4928616" y="3913632"/>
            <a:ext cx="2670048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1200">
                <a:solidFill>
                  <a:srgbClr val="5A5A50"/>
                </a:solidFill>
                <a:latin typeface="Gill Sans MT"/>
                <a:cs typeface="Gill Sans MT"/>
              </a:rPr>
              <a:t>Operators, analysts and domain experts know exactly what they need — then file a ticket and wait.</a:t>
            </a:r>
            <a:endParaRPr/>
          </a:p>
        </p:txBody>
      </p:sp>
      <p:sp>
        <p:nvSpPr>
          <p:cNvPr id="2071718084" name="rr"/>
          <p:cNvSpPr/>
          <p:nvPr/>
        </p:nvSpPr>
        <p:spPr bwMode="auto">
          <a:xfrm>
            <a:off x="8119872" y="2487168"/>
            <a:ext cx="3218688" cy="2542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2E2DC"/>
            </a:solidFill>
          </a:ln>
        </p:spPr>
        <p:txBody>
          <a:bodyPr wrap="square" lIns="146304" tIns="146304" rIns="146304" bIns="146304" anchor="t">
            <a:noAutofit/>
          </a:bodyPr>
          <a:lstStyle/>
          <a:p>
            <a:pPr>
              <a:defRPr/>
            </a:pPr>
            <a:endParaRPr sz="2000"/>
          </a:p>
        </p:txBody>
      </p:sp>
      <p:sp>
        <p:nvSpPr>
          <p:cNvPr id="1215321084" name="c"/>
          <p:cNvSpPr/>
          <p:nvPr/>
        </p:nvSpPr>
        <p:spPr bwMode="auto">
          <a:xfrm>
            <a:off x="8394192" y="2779776"/>
            <a:ext cx="310896" cy="310896"/>
          </a:xfrm>
          <a:prstGeom prst="ellipse">
            <a:avLst/>
          </a:prstGeom>
          <a:solidFill>
            <a:srgbClr val="F8B323"/>
          </a:solidFill>
        </p:spPr>
        <p:txBody>
          <a:bodyPr wrap="square" lIns="0" tIns="0" rIns="0" bIns="0" anchor="ctr"/>
          <a:lstStyle/>
          <a:p>
            <a:pPr>
              <a:defRPr/>
            </a:pPr>
            <a:endParaRPr sz="2000"/>
          </a:p>
        </p:txBody>
      </p:sp>
      <p:sp>
        <p:nvSpPr>
          <p:cNvPr id="88998925" name="tb"/>
          <p:cNvSpPr txBox="1"/>
          <p:nvPr/>
        </p:nvSpPr>
        <p:spPr bwMode="auto">
          <a:xfrm>
            <a:off x="8394192" y="3273552"/>
            <a:ext cx="267004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b="1">
                <a:solidFill>
                  <a:srgbClr val="2A1A00"/>
                </a:solidFill>
                <a:latin typeface="Gill Sans MT"/>
                <a:cs typeface="Gill Sans MT"/>
              </a:rPr>
              <a:t>AI agents have no hands</a:t>
            </a:r>
            <a:endParaRPr/>
          </a:p>
        </p:txBody>
      </p:sp>
      <p:sp>
        <p:nvSpPr>
          <p:cNvPr id="1110485396" name="tb"/>
          <p:cNvSpPr txBox="1"/>
          <p:nvPr/>
        </p:nvSpPr>
        <p:spPr bwMode="auto">
          <a:xfrm>
            <a:off x="8394192" y="3913632"/>
            <a:ext cx="2670048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1200">
                <a:solidFill>
                  <a:srgbClr val="5A5A50"/>
                </a:solidFill>
                <a:latin typeface="Gill Sans MT"/>
                <a:cs typeface="Gill Sans MT"/>
              </a:rPr>
              <a:t>Agents can reason over IoT data, but every action they take must first be hand-built as a tool.</a:t>
            </a:r>
            <a:endParaRPr/>
          </a:p>
        </p:txBody>
      </p:sp>
      <p:sp>
        <p:nvSpPr>
          <p:cNvPr id="386529263" name="rr"/>
          <p:cNvSpPr/>
          <p:nvPr/>
        </p:nvSpPr>
        <p:spPr bwMode="auto">
          <a:xfrm>
            <a:off x="1188720" y="5285232"/>
            <a:ext cx="10113264" cy="676656"/>
          </a:xfrm>
          <a:prstGeom prst="roundRect">
            <a:avLst>
              <a:gd name="adj" fmla="val 10000"/>
            </a:avLst>
          </a:prstGeom>
          <a:solidFill>
            <a:srgbClr val="2A1A00"/>
          </a:solidFill>
        </p:spPr>
        <p:txBody>
          <a:bodyPr wrap="square" lIns="146304" tIns="146304" rIns="146304" bIns="146304" anchor="ctr">
            <a:noAutofit/>
          </a:bodyPr>
          <a:lstStyle/>
          <a:p>
            <a:pPr algn="ctr">
              <a:defRPr/>
            </a:pPr>
            <a:r>
              <a:rPr lang="en-US" sz="1500" b="1">
                <a:solidFill>
                  <a:srgbClr val="FFFFFF"/>
                </a:solidFill>
                <a:latin typeface="Gill Sans MT"/>
                <a:cs typeface="Gill Sans MT"/>
              </a:rPr>
              <a:t>The result: a backlog of small, high-value functions that never get built.</a:t>
            </a:r>
            <a:endParaRPr/>
          </a:p>
        </p:txBody>
      </p:sp>
      <p:sp>
        <p:nvSpPr>
          <p:cNvPr id="1771989580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015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+mn-lt"/>
              </a:rPr>
              <a:t>Solution</a:t>
            </a:r>
            <a:endParaRPr/>
          </a:p>
        </p:txBody>
      </p:sp>
      <p:sp>
        <p:nvSpPr>
          <p:cNvPr id="612740876" name="tb"/>
          <p:cNvSpPr txBox="1"/>
          <p:nvPr/>
        </p:nvSpPr>
        <p:spPr bwMode="auto">
          <a:xfrm>
            <a:off x="1188720" y="15727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2000" b="1">
                <a:solidFill>
                  <a:srgbClr val="2A1A00"/>
                </a:solidFill>
                <a:latin typeface="Gill Sans MT"/>
                <a:cs typeface="Gill Sans MT"/>
              </a:rPr>
              <a:t>Text-to-Edge-Function: describe what you want in </a:t>
            </a:r>
            <a:r>
              <a:rPr lang="en-US" sz="2000" b="1">
                <a:solidFill>
                  <a:srgbClr val="FF0000"/>
                </a:solidFill>
                <a:latin typeface="Gill Sans MT"/>
                <a:cs typeface="Gill Sans MT"/>
              </a:rPr>
              <a:t>plain English</a:t>
            </a:r>
            <a:r>
              <a:rPr lang="en-US" sz="2000" b="1">
                <a:solidFill>
                  <a:srgbClr val="2A1A00"/>
                </a:solidFill>
                <a:latin typeface="Gill Sans MT"/>
                <a:cs typeface="Gill Sans MT"/>
              </a:rPr>
              <a:t> - </a:t>
            </a:r>
            <a:r>
              <a:rPr lang="en-US" sz="2000" b="1">
                <a:solidFill>
                  <a:srgbClr val="7030A0"/>
                </a:solidFill>
                <a:latin typeface="Gill Sans MT"/>
                <a:cs typeface="Gill Sans MT"/>
              </a:rPr>
              <a:t>get a live function.</a:t>
            </a:r>
            <a:endParaRPr/>
          </a:p>
        </p:txBody>
      </p:sp>
      <p:sp>
        <p:nvSpPr>
          <p:cNvPr id="1579362705" name="c"/>
          <p:cNvSpPr/>
          <p:nvPr/>
        </p:nvSpPr>
        <p:spPr bwMode="auto">
          <a:xfrm>
            <a:off x="1188720" y="2542032"/>
            <a:ext cx="475488" cy="475488"/>
          </a:xfrm>
          <a:prstGeom prst="ellipse">
            <a:avLst/>
          </a:prstGeom>
          <a:solidFill>
            <a:srgbClr val="F8B323"/>
          </a:solidFill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1600" b="1">
                <a:solidFill>
                  <a:srgbClr val="2A1A00"/>
                </a:solidFill>
                <a:latin typeface="Gill Sans MT"/>
                <a:cs typeface="Gill Sans MT"/>
              </a:rPr>
              <a:t>1</a:t>
            </a:r>
            <a:endParaRPr/>
          </a:p>
        </p:txBody>
      </p:sp>
      <p:sp>
        <p:nvSpPr>
          <p:cNvPr id="1108709194" name="tb"/>
          <p:cNvSpPr txBox="1"/>
          <p:nvPr/>
        </p:nvSpPr>
        <p:spPr bwMode="auto">
          <a:xfrm>
            <a:off x="1847088" y="2487168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1500" b="1">
                <a:solidFill>
                  <a:srgbClr val="2A1A00"/>
                </a:solidFill>
                <a:latin typeface="Gill Sans MT"/>
                <a:cs typeface="Gill Sans MT"/>
              </a:rPr>
              <a:t>Describe</a:t>
            </a:r>
            <a:endParaRPr/>
          </a:p>
        </p:txBody>
      </p:sp>
      <p:sp>
        <p:nvSpPr>
          <p:cNvPr id="2035134915" name="tb"/>
          <p:cNvSpPr txBox="1"/>
          <p:nvPr/>
        </p:nvSpPr>
        <p:spPr bwMode="auto">
          <a:xfrm>
            <a:off x="1847088" y="2816352"/>
            <a:ext cx="5257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1400">
                <a:solidFill>
                  <a:srgbClr val="5A5A50"/>
                </a:solidFill>
                <a:latin typeface="Gill Sans MT"/>
                <a:cs typeface="Gill Sans MT"/>
              </a:rPr>
              <a:t>Type what you want. </a:t>
            </a:r>
            <a:r>
              <a:rPr lang="en-US" sz="1400" b="1">
                <a:solidFill>
                  <a:srgbClr val="5A5A50"/>
                </a:solidFill>
                <a:latin typeface="Gill Sans MT"/>
                <a:cs typeface="Gill Sans MT"/>
              </a:rPr>
              <a:t>No code, no schema.</a:t>
            </a:r>
            <a:endParaRPr/>
          </a:p>
        </p:txBody>
      </p:sp>
      <p:sp>
        <p:nvSpPr>
          <p:cNvPr id="378114414" name="c"/>
          <p:cNvSpPr/>
          <p:nvPr/>
        </p:nvSpPr>
        <p:spPr bwMode="auto">
          <a:xfrm>
            <a:off x="1188720" y="3410712"/>
            <a:ext cx="475488" cy="475488"/>
          </a:xfrm>
          <a:prstGeom prst="ellipse">
            <a:avLst/>
          </a:prstGeom>
          <a:solidFill>
            <a:srgbClr val="F8B323"/>
          </a:solidFill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1600" b="1">
                <a:solidFill>
                  <a:srgbClr val="2A1A00"/>
                </a:solidFill>
                <a:latin typeface="Gill Sans MT"/>
                <a:cs typeface="Gill Sans MT"/>
              </a:rPr>
              <a:t>2</a:t>
            </a:r>
            <a:endParaRPr/>
          </a:p>
        </p:txBody>
      </p:sp>
      <p:sp>
        <p:nvSpPr>
          <p:cNvPr id="108547141" name="tb"/>
          <p:cNvSpPr txBox="1"/>
          <p:nvPr/>
        </p:nvSpPr>
        <p:spPr bwMode="auto">
          <a:xfrm>
            <a:off x="1847088" y="3355848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1500" b="1">
                <a:solidFill>
                  <a:srgbClr val="2A1A00"/>
                </a:solidFill>
                <a:latin typeface="Gill Sans MT"/>
                <a:cs typeface="Gill Sans MT"/>
              </a:rPr>
              <a:t>Author</a:t>
            </a:r>
            <a:endParaRPr/>
          </a:p>
        </p:txBody>
      </p:sp>
      <p:sp>
        <p:nvSpPr>
          <p:cNvPr id="1438412958" name="tb"/>
          <p:cNvSpPr txBox="1"/>
          <p:nvPr/>
        </p:nvSpPr>
        <p:spPr bwMode="auto">
          <a:xfrm>
            <a:off x="1847088" y="3685032"/>
            <a:ext cx="5257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1400">
                <a:solidFill>
                  <a:srgbClr val="5A5A50"/>
                </a:solidFill>
                <a:latin typeface="Gill Sans MT"/>
                <a:cs typeface="Gill Sans MT"/>
              </a:rPr>
              <a:t>The </a:t>
            </a:r>
            <a:r>
              <a:rPr lang="en-US" sz="1400" b="1">
                <a:solidFill>
                  <a:srgbClr val="5A5A50"/>
                </a:solidFill>
                <a:latin typeface="Gill Sans MT"/>
                <a:cs typeface="Gill Sans MT"/>
              </a:rPr>
              <a:t>c8y-fn-author agent (Claude Sonnet) </a:t>
            </a:r>
            <a:r>
              <a:rPr lang="en-US" sz="1400">
                <a:solidFill>
                  <a:srgbClr val="5A5A50"/>
                </a:solidFill>
                <a:latin typeface="Gill Sans MT"/>
                <a:cs typeface="Gill Sans MT"/>
              </a:rPr>
              <a:t>writes the function.</a:t>
            </a:r>
            <a:endParaRPr/>
          </a:p>
        </p:txBody>
      </p:sp>
      <p:sp>
        <p:nvSpPr>
          <p:cNvPr id="715392940" name="c"/>
          <p:cNvSpPr/>
          <p:nvPr/>
        </p:nvSpPr>
        <p:spPr bwMode="auto">
          <a:xfrm>
            <a:off x="1188720" y="4279392"/>
            <a:ext cx="475488" cy="475488"/>
          </a:xfrm>
          <a:prstGeom prst="ellipse">
            <a:avLst/>
          </a:prstGeom>
          <a:solidFill>
            <a:srgbClr val="F8B323"/>
          </a:solidFill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1600" b="1">
                <a:solidFill>
                  <a:srgbClr val="2A1A00"/>
                </a:solidFill>
                <a:latin typeface="Gill Sans MT"/>
                <a:cs typeface="Gill Sans MT"/>
              </a:rPr>
              <a:t>3</a:t>
            </a:r>
            <a:endParaRPr/>
          </a:p>
        </p:txBody>
      </p:sp>
      <p:sp>
        <p:nvSpPr>
          <p:cNvPr id="1594711473" name="tb"/>
          <p:cNvSpPr txBox="1"/>
          <p:nvPr/>
        </p:nvSpPr>
        <p:spPr bwMode="auto">
          <a:xfrm>
            <a:off x="1847088" y="4224528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1500" b="1">
                <a:solidFill>
                  <a:srgbClr val="2A1A00"/>
                </a:solidFill>
                <a:latin typeface="Gill Sans MT"/>
                <a:cs typeface="Gill Sans MT"/>
              </a:rPr>
              <a:t>Validate</a:t>
            </a:r>
            <a:endParaRPr/>
          </a:p>
        </p:txBody>
      </p:sp>
      <p:sp>
        <p:nvSpPr>
          <p:cNvPr id="1737713989" name="tb"/>
          <p:cNvSpPr txBox="1"/>
          <p:nvPr/>
        </p:nvSpPr>
        <p:spPr bwMode="auto">
          <a:xfrm>
            <a:off x="1847088" y="4553712"/>
            <a:ext cx="5257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1400">
                <a:solidFill>
                  <a:srgbClr val="5A5A50"/>
                </a:solidFill>
                <a:latin typeface="Gill Sans MT"/>
                <a:cs typeface="Gill Sans MT"/>
              </a:rPr>
              <a:t>It is dry-run in a </a:t>
            </a:r>
            <a:r>
              <a:rPr lang="en-US" sz="1400" b="1">
                <a:solidFill>
                  <a:srgbClr val="5A5A50"/>
                </a:solidFill>
                <a:latin typeface="Gill Sans MT"/>
                <a:cs typeface="Gill Sans MT"/>
              </a:rPr>
              <a:t>secure sandbox</a:t>
            </a:r>
            <a:r>
              <a:rPr lang="en-US" sz="1400">
                <a:solidFill>
                  <a:srgbClr val="5A5A50"/>
                </a:solidFill>
                <a:latin typeface="Gill Sans MT"/>
                <a:cs typeface="Gill Sans MT"/>
              </a:rPr>
              <a:t>; the agent fixes its own errors.</a:t>
            </a:r>
            <a:endParaRPr/>
          </a:p>
        </p:txBody>
      </p:sp>
      <p:sp>
        <p:nvSpPr>
          <p:cNvPr id="1965005139" name="c"/>
          <p:cNvSpPr/>
          <p:nvPr/>
        </p:nvSpPr>
        <p:spPr bwMode="auto">
          <a:xfrm>
            <a:off x="1188720" y="5148072"/>
            <a:ext cx="475488" cy="475488"/>
          </a:xfrm>
          <a:prstGeom prst="ellipse">
            <a:avLst/>
          </a:prstGeom>
          <a:solidFill>
            <a:srgbClr val="F8B323"/>
          </a:solidFill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1600" b="1">
                <a:solidFill>
                  <a:srgbClr val="2A1A00"/>
                </a:solidFill>
                <a:latin typeface="Gill Sans MT"/>
                <a:cs typeface="Gill Sans MT"/>
              </a:rPr>
              <a:t>4</a:t>
            </a:r>
            <a:endParaRPr/>
          </a:p>
        </p:txBody>
      </p:sp>
      <p:sp>
        <p:nvSpPr>
          <p:cNvPr id="676169900" name="tb"/>
          <p:cNvSpPr txBox="1"/>
          <p:nvPr/>
        </p:nvSpPr>
        <p:spPr bwMode="auto">
          <a:xfrm>
            <a:off x="1847088" y="5093208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1500" b="1">
                <a:solidFill>
                  <a:srgbClr val="2A1A00"/>
                </a:solidFill>
                <a:latin typeface="Gill Sans MT"/>
                <a:cs typeface="Gill Sans MT"/>
              </a:rPr>
              <a:t>Deploy</a:t>
            </a:r>
            <a:endParaRPr/>
          </a:p>
        </p:txBody>
      </p:sp>
      <p:sp>
        <p:nvSpPr>
          <p:cNvPr id="766506632" name="tb"/>
          <p:cNvSpPr txBox="1"/>
          <p:nvPr/>
        </p:nvSpPr>
        <p:spPr bwMode="auto">
          <a:xfrm>
            <a:off x="1847088" y="5422392"/>
            <a:ext cx="5257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sz="1400" b="1">
                <a:solidFill>
                  <a:srgbClr val="5A5A50"/>
                </a:solidFill>
                <a:latin typeface="Gill Sans MT"/>
                <a:cs typeface="Gill Sans MT"/>
              </a:rPr>
              <a:t>Stored instantly </a:t>
            </a:r>
            <a:r>
              <a:rPr lang="en-US" sz="1400">
                <a:solidFill>
                  <a:srgbClr val="5A5A50"/>
                </a:solidFill>
                <a:latin typeface="Gill Sans MT"/>
                <a:cs typeface="Gill Sans MT"/>
              </a:rPr>
              <a:t>as a callable URL and a reusable MCP tool.</a:t>
            </a:r>
            <a:endParaRPr/>
          </a:p>
        </p:txBody>
      </p:sp>
      <p:sp>
        <p:nvSpPr>
          <p:cNvPr id="2137619334" name="rr"/>
          <p:cNvSpPr/>
          <p:nvPr/>
        </p:nvSpPr>
        <p:spPr bwMode="auto">
          <a:xfrm>
            <a:off x="7019874" y="2447365"/>
            <a:ext cx="4410126" cy="3310127"/>
          </a:xfrm>
          <a:prstGeom prst="roundRect">
            <a:avLst>
              <a:gd name="adj" fmla="val 5000"/>
            </a:avLst>
          </a:prstGeom>
          <a:solidFill>
            <a:srgbClr val="2A1A00"/>
          </a:solidFill>
        </p:spPr>
        <p:txBody>
          <a:bodyPr wrap="square" lIns="146304" tIns="146304" rIns="146304" bIns="146304" anchor="t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5552312" name="tb"/>
          <p:cNvSpPr txBox="1"/>
          <p:nvPr/>
        </p:nvSpPr>
        <p:spPr bwMode="auto">
          <a:xfrm>
            <a:off x="7294194" y="2703397"/>
            <a:ext cx="3794760" cy="2852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/>
            </a:pPr>
            <a:r>
              <a:rPr lang="en-US" b="1">
                <a:solidFill>
                  <a:srgbClr val="F8B323"/>
                </a:solidFill>
                <a:latin typeface="Gill Sans MT"/>
                <a:cs typeface="Gill Sans MT"/>
              </a:rPr>
              <a:t>Why it works</a:t>
            </a:r>
            <a:endParaRPr/>
          </a:p>
          <a:p>
            <a:pPr algn="l">
              <a:spcBef>
                <a:spcPts val="900"/>
              </a:spcBef>
              <a:defRPr/>
            </a:pPr>
            <a:r>
              <a:rPr lang="en-US" b="1">
                <a:solidFill>
                  <a:srgbClr val="F8B323"/>
                </a:solidFill>
                <a:latin typeface="Gill Sans MT"/>
                <a:cs typeface="Gill Sans MT"/>
              </a:rPr>
              <a:t>Self-healing</a:t>
            </a:r>
            <a:r>
              <a:rPr lang="en-US">
                <a:solidFill>
                  <a:srgbClr val="FFFFFF"/>
                </a:solidFill>
                <a:latin typeface="Gill Sans MT"/>
                <a:cs typeface="Gill Sans MT"/>
              </a:rPr>
              <a:t> - the agent reads dry-run errors and repairs the code by itself.</a:t>
            </a:r>
            <a:endParaRPr/>
          </a:p>
          <a:p>
            <a:pPr algn="l">
              <a:spcBef>
                <a:spcPts val="900"/>
              </a:spcBef>
              <a:defRPr/>
            </a:pPr>
            <a:r>
              <a:rPr lang="en-US" b="1">
                <a:solidFill>
                  <a:srgbClr val="F8B323"/>
                </a:solidFill>
                <a:latin typeface="Gill Sans MT"/>
                <a:cs typeface="Gill Sans MT"/>
              </a:rPr>
              <a:t>Secure by design</a:t>
            </a:r>
            <a:r>
              <a:rPr lang="en-US">
                <a:solidFill>
                  <a:srgbClr val="FFFFFF"/>
                </a:solidFill>
                <a:latin typeface="Gill Sans MT"/>
                <a:cs typeface="Gill Sans MT"/>
              </a:rPr>
              <a:t> - sandboxed, no network, allowlisted paths, the caller’s own permissions.</a:t>
            </a:r>
            <a:endParaRPr/>
          </a:p>
          <a:p>
            <a:pPr algn="l">
              <a:spcBef>
                <a:spcPts val="900"/>
              </a:spcBef>
              <a:defRPr/>
            </a:pPr>
            <a:r>
              <a:rPr lang="en-US" b="1">
                <a:solidFill>
                  <a:srgbClr val="F8B323"/>
                </a:solidFill>
                <a:latin typeface="Gill Sans MT"/>
                <a:cs typeface="Gill Sans MT"/>
              </a:rPr>
              <a:t>Anyone can build</a:t>
            </a:r>
            <a:r>
              <a:rPr lang="en-US">
                <a:solidFill>
                  <a:srgbClr val="FFFFFF"/>
                </a:solidFill>
                <a:latin typeface="Gill Sans MT"/>
                <a:cs typeface="Gill Sans MT"/>
              </a:rPr>
              <a:t> - domain experts ship logic without waiting on developers.</a:t>
            </a:r>
            <a:endParaRPr/>
          </a:p>
        </p:txBody>
      </p:sp>
      <p:sp>
        <p:nvSpPr>
          <p:cNvPr id="821677667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8721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+mn-lt"/>
              </a:rPr>
              <a:t>architecture</a:t>
            </a:r>
            <a:endParaRPr/>
          </a:p>
        </p:txBody>
      </p:sp>
      <p:sp>
        <p:nvSpPr>
          <p:cNvPr id="21790017" name="tb"/>
          <p:cNvSpPr txBox="1"/>
          <p:nvPr/>
        </p:nvSpPr>
        <p:spPr bwMode="auto">
          <a:xfrm>
            <a:off x="998220" y="6046811"/>
            <a:ext cx="10195560" cy="26571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/>
            </a:pPr>
            <a:r>
              <a:rPr lang="en-US" sz="1400" i="1">
                <a:solidFill>
                  <a:srgbClr val="5A5A50"/>
                </a:solidFill>
                <a:latin typeface="Gill Sans MT"/>
                <a:cs typeface="Gill Sans MT"/>
              </a:rPr>
              <a:t>One microservice: an AI agent authors functions</a:t>
            </a:r>
            <a:r>
              <a:rPr lang="de-DE" sz="1400" i="1">
                <a:solidFill>
                  <a:srgbClr val="5A5A50"/>
                </a:solidFill>
                <a:latin typeface="Gill Sans MT"/>
                <a:cs typeface="Gill Sans MT"/>
              </a:rPr>
              <a:t>, deploys them</a:t>
            </a:r>
            <a:r>
              <a:rPr lang="en-US" sz="1400" i="1">
                <a:solidFill>
                  <a:srgbClr val="5A5A50"/>
                </a:solidFill>
                <a:latin typeface="Gill Sans MT"/>
                <a:cs typeface="Gill Sans MT"/>
              </a:rPr>
              <a:t> through an MCP tool; a QuickJS sandbox runs them with the caller’s own Cumulocity permissions.</a:t>
            </a:r>
            <a:endParaRPr/>
          </a:p>
        </p:txBody>
      </p:sp>
      <p:sp>
        <p:nvSpPr>
          <p:cNvPr id="1357313400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4</a:t>
            </a:fld>
            <a:endParaRPr lang="en-US"/>
          </a:p>
        </p:txBody>
      </p:sp>
      <p:pic>
        <p:nvPicPr>
          <p:cNvPr id="122638236" name="Picture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2762" y="1623535"/>
            <a:ext cx="10636154" cy="43453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819923" name="Title 1"/>
          <p:cNvSpPr>
            <a:spLocks noGrp="1"/>
          </p:cNvSpPr>
          <p:nvPr>
            <p:ph type="title"/>
          </p:nvPr>
        </p:nvSpPr>
        <p:spPr bwMode="auto">
          <a:xfrm>
            <a:off x="3521439" y="2918114"/>
            <a:ext cx="10178321" cy="1492131"/>
          </a:xfrm>
        </p:spPr>
        <p:txBody>
          <a:bodyPr/>
          <a:lstStyle/>
          <a:p>
            <a:pPr>
              <a:defRPr/>
            </a:pPr>
            <a:r>
              <a:rPr lang="en-GB">
                <a:latin typeface="+mn-lt"/>
              </a:rPr>
              <a:t>L</a:t>
            </a:r>
            <a:r>
              <a:rPr>
                <a:latin typeface="+mn-lt"/>
              </a:rPr>
              <a:t>ive demo</a:t>
            </a:r>
            <a:endParaRPr/>
          </a:p>
        </p:txBody>
      </p:sp>
      <p:sp>
        <p:nvSpPr>
          <p:cNvPr id="176150458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766878-3199-4EAB-94E7-2D6D11070E14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302417" name="Title 1"/>
          <p:cNvSpPr>
            <a:spLocks noGrp="1"/>
          </p:cNvSpPr>
          <p:nvPr>
            <p:ph type="title"/>
          </p:nvPr>
        </p:nvSpPr>
        <p:spPr bwMode="auto">
          <a:xfrm>
            <a:off x="3521439" y="2918114"/>
            <a:ext cx="10178321" cy="1492131"/>
          </a:xfrm>
        </p:spPr>
        <p:txBody>
          <a:bodyPr/>
          <a:lstStyle/>
          <a:p>
            <a:pPr>
              <a:defRPr/>
            </a:pPr>
            <a:r>
              <a:rPr lang="de-DE">
                <a:latin typeface="Gill Sans MT"/>
              </a:rPr>
              <a:t>Questions?</a:t>
            </a:r>
            <a:endParaRPr/>
          </a:p>
        </p:txBody>
      </p:sp>
      <p:sp>
        <p:nvSpPr>
          <p:cNvPr id="185884195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BF5CA22-FECD-54B8-8669-B43C626A2714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Badge">
      <a:fillStyleLst>
        <a:solidFill>
          <a:schemeClr val="phClr"/>
        </a:solidFill>
        <a:gradFill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0</TotalTime>
  <Words>0</Words>
  <Application>ONLYOFFICE/9.2.1.43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Sameeyuddeen</dc:creator>
  <cp:lastModifiedBy/>
  <cp:revision>16</cp:revision>
  <dcterms:created xsi:type="dcterms:W3CDTF">2026-09-22T07:46:10Z</dcterms:created>
  <dcterms:modified xsi:type="dcterms:W3CDTF">2026-09-22T13:45:31Z</dcterms:modified>
</cp:coreProperties>
</file>